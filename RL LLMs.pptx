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embeddedFontLst>
    <p:embeddedFont>
      <p:font typeface="Arial Black"/>
      <p:regular r:id="rId18"/>
    </p:embeddedFont>
    <p:embeddedFont>
      <p:font typeface="Open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7.xml"/><Relationship Id="rId22" Type="http://schemas.openxmlformats.org/officeDocument/2006/relationships/font" Target="fonts/OpenSans-boldItalic.fntdata"/><Relationship Id="rId10" Type="http://schemas.openxmlformats.org/officeDocument/2006/relationships/slide" Target="slides/slide6.xml"/><Relationship Id="rId21" Type="http://schemas.openxmlformats.org/officeDocument/2006/relationships/font" Target="fonts/OpenSans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OpenSans-regular.fntdata"/><Relationship Id="rId6" Type="http://schemas.openxmlformats.org/officeDocument/2006/relationships/slide" Target="slides/slide2.xml"/><Relationship Id="rId18" Type="http://schemas.openxmlformats.org/officeDocument/2006/relationships/font" Target="fonts/ArialBlack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4eb593f1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4eb593f14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4eb593f14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4eb593f148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eb593f14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4eb593f148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50bd74b1d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50bd74b1d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50bd74b1d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50bd74b1dc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50bd74b1d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50bd74b1dc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50bd74b1d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50bd74b1dc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0bd74b1d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50bd74b1dc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07d6ce9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507d6ce9d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50bd74b1dc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50bd74b1dc_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 rot="5400000">
            <a:off x="3920332" y="-1256507"/>
            <a:ext cx="4351337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p1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0" y="0"/>
            <a:ext cx="11887200" cy="6858000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619125" y="2443162"/>
            <a:ext cx="7886700" cy="1350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 Black"/>
              <a:buNone/>
            </a:pPr>
            <a:r>
              <a:rPr b="1" lang="en-US" sz="4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Reinforcement Learning for LLM’s</a:t>
            </a:r>
            <a:endParaRPr/>
          </a:p>
        </p:txBody>
      </p:sp>
      <p:cxnSp>
        <p:nvCxnSpPr>
          <p:cNvPr id="86" name="Google Shape;86;p13"/>
          <p:cNvCxnSpPr/>
          <p:nvPr/>
        </p:nvCxnSpPr>
        <p:spPr>
          <a:xfrm>
            <a:off x="711200" y="3894137"/>
            <a:ext cx="6299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87" name="Google Shape;87;p13"/>
          <p:cNvSpPr txBox="1"/>
          <p:nvPr/>
        </p:nvSpPr>
        <p:spPr>
          <a:xfrm>
            <a:off x="711200" y="2135187"/>
            <a:ext cx="2192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 Black"/>
              <a:buNone/>
            </a:pPr>
            <a:r>
              <a:rPr b="1" lang="en-US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April</a:t>
            </a:r>
            <a:r>
              <a:rPr b="1" i="0" lang="en-US" sz="1400" u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 20</a:t>
            </a:r>
            <a:r>
              <a:rPr b="1" lang="en-US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25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1887200" y="0"/>
            <a:ext cx="304800" cy="5588000"/>
          </a:xfrm>
          <a:prstGeom prst="rect">
            <a:avLst/>
          </a:prstGeom>
          <a:solidFill>
            <a:srgbClr val="EB8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11887200" y="5588000"/>
            <a:ext cx="304800" cy="127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19125" y="6007100"/>
            <a:ext cx="5418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 Black"/>
              <a:buNone/>
            </a:pPr>
            <a:r>
              <a:rPr b="1" lang="en-US" sz="11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Peter Call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PhD Student</a:t>
            </a:r>
            <a:r>
              <a:rPr b="0" i="0" lang="en-US" sz="11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The University of Texas at Austin</a:t>
            </a:r>
            <a:endParaRPr/>
          </a:p>
        </p:txBody>
      </p:sp>
      <p:pic>
        <p:nvPicPr>
          <p:cNvPr id="91" name="Google Shape;9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50" y="411162"/>
            <a:ext cx="3005137" cy="522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/>
        </p:nvSpPr>
        <p:spPr>
          <a:xfrm>
            <a:off x="0" y="0"/>
            <a:ext cx="3911600" cy="6858000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54025" y="2235200"/>
            <a:ext cx="294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Training LLM’s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4862500" y="1247775"/>
            <a:ext cx="7028400" cy="54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arenR"/>
            </a:pPr>
            <a:r>
              <a:rPr lang="en-US" sz="1800" u="sng">
                <a:latin typeface="Open Sans"/>
                <a:ea typeface="Open Sans"/>
                <a:cs typeface="Open Sans"/>
                <a:sym typeface="Open Sans"/>
              </a:rPr>
              <a:t>Pre-Training</a:t>
            </a:r>
            <a:endParaRPr sz="1800" u="sng"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AutoNum type="alphaLcParenR"/>
            </a:pPr>
            <a:r>
              <a:rPr lang="en-US" sz="1800">
                <a:latin typeface="Open Sans"/>
                <a:ea typeface="Open Sans"/>
                <a:cs typeface="Open Sans"/>
                <a:sym typeface="Open Sans"/>
              </a:rPr>
              <a:t>Trained to predict the next token on trillions of tokens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AutoNum type="alphaLcParenR"/>
            </a:pPr>
            <a:r>
              <a:rPr lang="en-US" sz="1800">
                <a:latin typeface="Open Sans"/>
                <a:ea typeface="Open Sans"/>
                <a:cs typeface="Open Sans"/>
                <a:sym typeface="Open Sans"/>
              </a:rPr>
              <a:t>Purpose: For the model to gain knowledge of language and subject understanding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AutoNum type="arabicParenR"/>
            </a:pPr>
            <a:r>
              <a:rPr lang="en-US" sz="1800">
                <a:latin typeface="Open Sans"/>
                <a:ea typeface="Open Sans"/>
                <a:cs typeface="Open Sans"/>
                <a:sym typeface="Open Sans"/>
              </a:rPr>
              <a:t>RLHF: Reinforcement Learning using Human Feedback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AutoNum type="alphaLcParenR"/>
            </a:pPr>
            <a:r>
              <a:rPr lang="en-US" sz="1800" u="sng">
                <a:latin typeface="Open Sans"/>
                <a:ea typeface="Open Sans"/>
                <a:cs typeface="Open Sans"/>
                <a:sym typeface="Open Sans"/>
              </a:rPr>
              <a:t>Supervised Fine Tuning</a:t>
            </a:r>
            <a:r>
              <a:rPr lang="en-US" sz="1800">
                <a:latin typeface="Open Sans"/>
                <a:ea typeface="Open Sans"/>
                <a:cs typeface="Open Sans"/>
                <a:sym typeface="Open Sans"/>
              </a:rPr>
              <a:t> (SFT)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AutoNum type="romanLcParenR"/>
            </a:pPr>
            <a:r>
              <a:rPr lang="en-US" sz="1800">
                <a:latin typeface="Open Sans"/>
                <a:ea typeface="Open Sans"/>
                <a:cs typeface="Open Sans"/>
                <a:sym typeface="Open Sans"/>
              </a:rPr>
              <a:t>Trained on a labeled dataset to do things like answer questions, summarize, etc.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AutoNum type="romanLcParenR"/>
            </a:pPr>
            <a:r>
              <a:rPr lang="en-US" sz="1800">
                <a:latin typeface="Open Sans"/>
                <a:ea typeface="Open Sans"/>
                <a:cs typeface="Open Sans"/>
                <a:sym typeface="Open Sans"/>
              </a:rPr>
              <a:t>Purpose: Teach the model how to perform tasks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AutoNum type="alphaLcParenR"/>
            </a:pPr>
            <a:r>
              <a:rPr lang="en-US" sz="1800" u="sng">
                <a:latin typeface="Open Sans"/>
                <a:ea typeface="Open Sans"/>
                <a:cs typeface="Open Sans"/>
                <a:sym typeface="Open Sans"/>
              </a:rPr>
              <a:t>Alignment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AutoNum type="romanLcParenR"/>
            </a:pPr>
            <a:r>
              <a:rPr lang="en-US" sz="1800">
                <a:latin typeface="Open Sans"/>
                <a:ea typeface="Open Sans"/>
                <a:cs typeface="Open Sans"/>
                <a:sym typeface="Open Sans"/>
              </a:rPr>
              <a:t>Purpose: Align the model with human preferences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AutoNum type="arabicParenBoth"/>
            </a:pPr>
            <a:r>
              <a:rPr lang="en-US" sz="1800">
                <a:latin typeface="Open Sans"/>
                <a:ea typeface="Open Sans"/>
                <a:cs typeface="Open Sans"/>
                <a:sym typeface="Open Sans"/>
              </a:rPr>
              <a:t>Helpfulness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AutoNum type="arabicParenBoth"/>
            </a:pPr>
            <a:r>
              <a:rPr lang="en-US" sz="1800">
                <a:latin typeface="Open Sans"/>
                <a:ea typeface="Open Sans"/>
                <a:cs typeface="Open Sans"/>
                <a:sym typeface="Open Sans"/>
              </a:rPr>
              <a:t>Length of Response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AutoNum type="arabicParenBoth"/>
            </a:pPr>
            <a:r>
              <a:rPr lang="en-US" sz="1800">
                <a:latin typeface="Open Sans"/>
                <a:ea typeface="Open Sans"/>
                <a:cs typeface="Open Sans"/>
                <a:sym typeface="Open Sans"/>
              </a:rPr>
              <a:t>Honesty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AutoNum type="arabicParenBoth"/>
            </a:pPr>
            <a:r>
              <a:rPr lang="en-US" sz="1800">
                <a:latin typeface="Open Sans"/>
                <a:ea typeface="Open Sans"/>
                <a:cs typeface="Open Sans"/>
                <a:sym typeface="Open Sans"/>
              </a:rPr>
              <a:t>Harmlessness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AutoNum type="arabicParenBoth"/>
            </a:pPr>
            <a:r>
              <a:rPr lang="en-US" sz="1800">
                <a:latin typeface="Open Sans"/>
                <a:ea typeface="Open Sans"/>
                <a:cs typeface="Open Sans"/>
                <a:sym typeface="Open Sans"/>
              </a:rPr>
              <a:t>Avoid Bias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9" name="Google Shape;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025" y="6130925"/>
            <a:ext cx="2557462" cy="44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4557712" y="485775"/>
            <a:ext cx="664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Open Sans"/>
                <a:ea typeface="Open Sans"/>
                <a:cs typeface="Open Sans"/>
                <a:sym typeface="Open Sans"/>
              </a:rPr>
              <a:t>LLM’s are Trained in 3 Primary Steps</a:t>
            </a:r>
            <a:endParaRPr b="1"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/>
          <p:nvPr/>
        </p:nvSpPr>
        <p:spPr>
          <a:xfrm rot="-5400000">
            <a:off x="5308650" y="1244550"/>
            <a:ext cx="304800" cy="10922100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 rot="-5400000">
            <a:off x="11404550" y="6070650"/>
            <a:ext cx="304800" cy="1269900"/>
          </a:xfrm>
          <a:prstGeom prst="rect">
            <a:avLst/>
          </a:prstGeom>
          <a:solidFill>
            <a:srgbClr val="EB8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736600" y="3592512"/>
            <a:ext cx="10736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Aligned Model (ChatGPT):</a:t>
            </a:r>
            <a:endParaRPr/>
          </a:p>
        </p:txBody>
      </p:sp>
      <p:pic>
        <p:nvPicPr>
          <p:cNvPr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50" y="411162"/>
            <a:ext cx="3009902" cy="52228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736600" y="2144712"/>
            <a:ext cx="10736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Unaligned Model</a:t>
            </a:r>
            <a:endParaRPr/>
          </a:p>
        </p:txBody>
      </p:sp>
      <p:pic>
        <p:nvPicPr>
          <p:cNvPr id="110" name="Google Shape;11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1125" y="4044512"/>
            <a:ext cx="7753350" cy="17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81125" y="2604450"/>
            <a:ext cx="775335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736600" y="1382712"/>
            <a:ext cx="1073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User Question: “How can I make a bomb”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/>
          <p:nvPr/>
        </p:nvSpPr>
        <p:spPr>
          <a:xfrm>
            <a:off x="787400" y="2039925"/>
            <a:ext cx="10134600" cy="4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The Language Model (with parameters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theta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 Space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The set of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prompts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that can be given to a language model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Action Space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The set of tokens in the language model’s vocabulary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Policy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The language Model inputs a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(i.e. an input prompt) and outputs a probability distribution over the tokens in its vocabulary (i.e. its action space)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Transition Probability Function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P is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deterministic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this setting. After sampling a token from the probability distribution over the space of tokens, the token is deterministically appended to the end of the input prompt to get the next state. So P is essentially ignored in RL for LLMs.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i.e. P(s1, s2, …, sn, a1 | s1, s2, …, sn and a1) =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     P(any other state | s1, s2, …, sn and a1) = 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 rot="-5400000">
            <a:off x="5308650" y="1244550"/>
            <a:ext cx="304800" cy="10922100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 rot="-5400000">
            <a:off x="11404550" y="6070650"/>
            <a:ext cx="304800" cy="1269900"/>
          </a:xfrm>
          <a:prstGeom prst="rect">
            <a:avLst/>
          </a:prstGeom>
          <a:solidFill>
            <a:srgbClr val="EB8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50" y="411162"/>
            <a:ext cx="3009902" cy="522287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787400" y="1217950"/>
            <a:ext cx="108030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Reinforcement Learning Problem Setup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/>
          <p:nvPr/>
        </p:nvSpPr>
        <p:spPr>
          <a:xfrm rot="-5400000">
            <a:off x="5308650" y="1244550"/>
            <a:ext cx="304800" cy="10922100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787400" y="2024750"/>
            <a:ext cx="10134600" cy="4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Reward Function is what is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RL for LLMs.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reward function takes in a prompt y and a model response x and returns a score 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KEY: The reward function can only score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model responses and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token-by-token outputs. This is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than in typical RL where the reward function scores each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action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that the agent takes.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reward function is typically a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copy of the base language model itself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with its prediction head replaced with a single vector so that it produces a single number.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trained using: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loss = -log(sigmoid(reward(chosen) - reward(rejected)))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 txBox="1"/>
          <p:nvPr/>
        </p:nvSpPr>
        <p:spPr>
          <a:xfrm rot="-5400000">
            <a:off x="11404550" y="6070650"/>
            <a:ext cx="304800" cy="1269900"/>
          </a:xfrm>
          <a:prstGeom prst="rect">
            <a:avLst/>
          </a:prstGeom>
          <a:solidFill>
            <a:srgbClr val="EB8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50" y="411162"/>
            <a:ext cx="3009902" cy="522287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 txBox="1"/>
          <p:nvPr/>
        </p:nvSpPr>
        <p:spPr>
          <a:xfrm>
            <a:off x="787400" y="1217950"/>
            <a:ext cx="108030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Reward Function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 txBox="1"/>
          <p:nvPr/>
        </p:nvSpPr>
        <p:spPr>
          <a:xfrm rot="-5400000">
            <a:off x="5308650" y="1244550"/>
            <a:ext cx="304800" cy="10922100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787400" y="2024750"/>
            <a:ext cx="10134600" cy="24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used Anthropic’s HH dataset (Helpfulness, Honest, Harmlessness) to train a reward function. The data they provided was of form: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(question, chosen_response, rejected_response)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is the loss curve from my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training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 rot="-5400000">
            <a:off x="11404550" y="6070650"/>
            <a:ext cx="304800" cy="1269900"/>
          </a:xfrm>
          <a:prstGeom prst="rect">
            <a:avLst/>
          </a:prstGeom>
          <a:solidFill>
            <a:srgbClr val="EB8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50" y="411162"/>
            <a:ext cx="3009902" cy="522287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/>
          <p:nvPr/>
        </p:nvSpPr>
        <p:spPr>
          <a:xfrm>
            <a:off x="787400" y="1217950"/>
            <a:ext cx="108030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Reward Function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3875" y="3829525"/>
            <a:ext cx="3236925" cy="242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/>
          <p:nvPr/>
        </p:nvSpPr>
        <p:spPr>
          <a:xfrm rot="-5400000">
            <a:off x="5308650" y="1244550"/>
            <a:ext cx="304800" cy="10922100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9"/>
          <p:cNvSpPr txBox="1"/>
          <p:nvPr/>
        </p:nvSpPr>
        <p:spPr>
          <a:xfrm>
            <a:off x="787400" y="2024750"/>
            <a:ext cx="101346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SFT is an important part of the RLHF pipeline. It teaches models: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-How to perform tasks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-How to chat back and forth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-How to know when to stop talking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need data of form: (input, desired_output)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then use cross-entropy loss on a per-token basis on the model’s response versus the desired_output.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/>
          <p:cNvSpPr txBox="1"/>
          <p:nvPr/>
        </p:nvSpPr>
        <p:spPr>
          <a:xfrm rot="-5400000">
            <a:off x="11404550" y="6070650"/>
            <a:ext cx="304800" cy="1269900"/>
          </a:xfrm>
          <a:prstGeom prst="rect">
            <a:avLst/>
          </a:prstGeom>
          <a:solidFill>
            <a:srgbClr val="EB8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50" y="411162"/>
            <a:ext cx="3009902" cy="522287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>
            <a:off x="787400" y="1217950"/>
            <a:ext cx="108030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Supervised Fine Tuning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 txBox="1"/>
          <p:nvPr/>
        </p:nvSpPr>
        <p:spPr>
          <a:xfrm rot="-5400000">
            <a:off x="5308650" y="1244550"/>
            <a:ext cx="304800" cy="10922100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0"/>
          <p:cNvSpPr txBox="1"/>
          <p:nvPr/>
        </p:nvSpPr>
        <p:spPr>
          <a:xfrm>
            <a:off x="787400" y="2024750"/>
            <a:ext cx="101346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used two datasets: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arenR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OpenThoughts 114k (a dataset of 114,000 question-answer pairs)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arenR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Bespoke-Stratos-17k (a dataset of 17k question-answer pairs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Training: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0"/>
          <p:cNvSpPr txBox="1"/>
          <p:nvPr/>
        </p:nvSpPr>
        <p:spPr>
          <a:xfrm rot="-5400000">
            <a:off x="11404550" y="6070650"/>
            <a:ext cx="304800" cy="1269900"/>
          </a:xfrm>
          <a:prstGeom prst="rect">
            <a:avLst/>
          </a:prstGeom>
          <a:solidFill>
            <a:srgbClr val="EB8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50" y="411162"/>
            <a:ext cx="3009902" cy="522287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0"/>
          <p:cNvSpPr txBox="1"/>
          <p:nvPr/>
        </p:nvSpPr>
        <p:spPr>
          <a:xfrm>
            <a:off x="787400" y="1217950"/>
            <a:ext cx="108030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SFT Training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69125" y="3298000"/>
            <a:ext cx="4340275" cy="325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81825" y="3298000"/>
            <a:ext cx="4163974" cy="312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 txBox="1"/>
          <p:nvPr/>
        </p:nvSpPr>
        <p:spPr>
          <a:xfrm rot="-5400000">
            <a:off x="5308650" y="1244550"/>
            <a:ext cx="304800" cy="10922100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1"/>
          <p:cNvSpPr txBox="1"/>
          <p:nvPr/>
        </p:nvSpPr>
        <p:spPr>
          <a:xfrm>
            <a:off x="787400" y="2024750"/>
            <a:ext cx="10134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 SFT is quite expensive because it updates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parameters of the model.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instead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freeze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all the weights of the model, and inject learnable weight matrices that we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the frozen weight layers of the matrix. The weight matrices we add are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 rank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so are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inexpensive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1"/>
          <p:cNvSpPr txBox="1"/>
          <p:nvPr/>
        </p:nvSpPr>
        <p:spPr>
          <a:xfrm rot="-5400000">
            <a:off x="11404550" y="6070650"/>
            <a:ext cx="304800" cy="1269900"/>
          </a:xfrm>
          <a:prstGeom prst="rect">
            <a:avLst/>
          </a:prstGeom>
          <a:solidFill>
            <a:srgbClr val="EB8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50" y="411162"/>
            <a:ext cx="3009902" cy="522287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1"/>
          <p:cNvSpPr txBox="1"/>
          <p:nvPr/>
        </p:nvSpPr>
        <p:spPr>
          <a:xfrm>
            <a:off x="787400" y="1217950"/>
            <a:ext cx="108030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Parameter Efficient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Fine-Tuning (PEFT) - LoRA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300" y="3309750"/>
            <a:ext cx="5743795" cy="302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/>
          <p:nvPr/>
        </p:nvSpPr>
        <p:spPr>
          <a:xfrm rot="-5400000">
            <a:off x="5308650" y="1244550"/>
            <a:ext cx="304800" cy="10922100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2"/>
          <p:cNvSpPr txBox="1"/>
          <p:nvPr/>
        </p:nvSpPr>
        <p:spPr>
          <a:xfrm>
            <a:off x="787400" y="2024750"/>
            <a:ext cx="10134600" cy="3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used the safe dataset as in SFT: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arenR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OpenThoughts 114k (a dataset of 114,000 question-answer pairs)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arenR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Bespoke-Stratos-17k (a dataset of 17k question-answer pairs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Percentage of overall parameters: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Overall Model: 495,114,112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LoRA parameters: 1,081,344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Percentage: 0.2184%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2"/>
          <p:cNvSpPr txBox="1"/>
          <p:nvPr/>
        </p:nvSpPr>
        <p:spPr>
          <a:xfrm rot="-5400000">
            <a:off x="11404550" y="6070650"/>
            <a:ext cx="304800" cy="1269900"/>
          </a:xfrm>
          <a:prstGeom prst="rect">
            <a:avLst/>
          </a:prstGeom>
          <a:solidFill>
            <a:srgbClr val="EB8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50" y="411162"/>
            <a:ext cx="3009902" cy="52228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2"/>
          <p:cNvSpPr txBox="1"/>
          <p:nvPr/>
        </p:nvSpPr>
        <p:spPr>
          <a:xfrm>
            <a:off x="787400" y="1217950"/>
            <a:ext cx="108030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LoRA Training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 txBox="1"/>
          <p:nvPr/>
        </p:nvSpPr>
        <p:spPr>
          <a:xfrm rot="-5400000">
            <a:off x="5308650" y="1244550"/>
            <a:ext cx="304800" cy="10922100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3"/>
          <p:cNvSpPr txBox="1"/>
          <p:nvPr/>
        </p:nvSpPr>
        <p:spPr>
          <a:xfrm>
            <a:off x="787400" y="2024750"/>
            <a:ext cx="10134600" cy="3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REINFORCE Algorithm is a simple algorithm that has been adapted with success in the LLM world,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beginning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 a paper in Feb 2024: Back to Basics: Revisiting REINFORCE Style Optimization for Learning from Human Feedback in LLMs.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argues that the simplicity of REINFORCE works well for LLM’s because the RL environment with LLMs is vastly different than the traditional RL landscape: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LLM’s come with significant pretraining, unlike most starting points of RL models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“We note that these findings were based on scenarios with poor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conditioning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when training from random or weak initialization as opposed to warm-starting it from a strong pre-trained model.”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3"/>
          <p:cNvSpPr txBox="1"/>
          <p:nvPr/>
        </p:nvSpPr>
        <p:spPr>
          <a:xfrm rot="-5400000">
            <a:off x="11404550" y="6070650"/>
            <a:ext cx="304800" cy="1269900"/>
          </a:xfrm>
          <a:prstGeom prst="rect">
            <a:avLst/>
          </a:prstGeom>
          <a:solidFill>
            <a:srgbClr val="EB8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50" y="411162"/>
            <a:ext cx="3009902" cy="522287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3"/>
          <p:cNvSpPr txBox="1"/>
          <p:nvPr/>
        </p:nvSpPr>
        <p:spPr>
          <a:xfrm>
            <a:off x="787400" y="1217950"/>
            <a:ext cx="108030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REINFORCE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"/>
          <p:cNvSpPr txBox="1"/>
          <p:nvPr/>
        </p:nvSpPr>
        <p:spPr>
          <a:xfrm>
            <a:off x="787400" y="2024750"/>
            <a:ext cx="101346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RL function we want to maximize is: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REINFORCE approximates the gradient update as: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LLM’s, this means scaling the sum of the log probabilities of the model response by the reward!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	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4"/>
          <p:cNvSpPr txBox="1"/>
          <p:nvPr/>
        </p:nvSpPr>
        <p:spPr>
          <a:xfrm rot="-5400000">
            <a:off x="5308650" y="1244550"/>
            <a:ext cx="304800" cy="10922100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4"/>
          <p:cNvSpPr txBox="1"/>
          <p:nvPr/>
        </p:nvSpPr>
        <p:spPr>
          <a:xfrm rot="-5400000">
            <a:off x="11404550" y="6070650"/>
            <a:ext cx="304800" cy="1269900"/>
          </a:xfrm>
          <a:prstGeom prst="rect">
            <a:avLst/>
          </a:prstGeom>
          <a:solidFill>
            <a:srgbClr val="EB8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50" y="411162"/>
            <a:ext cx="3009902" cy="522287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4"/>
          <p:cNvSpPr txBox="1"/>
          <p:nvPr/>
        </p:nvSpPr>
        <p:spPr>
          <a:xfrm>
            <a:off x="787400" y="1217950"/>
            <a:ext cx="108030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REINFORCE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4325" y="2576825"/>
            <a:ext cx="4286250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24325" y="3793925"/>
            <a:ext cx="4286250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24325" y="4955525"/>
            <a:ext cx="4286250" cy="558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6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5"/>
          <p:cNvSpPr txBox="1"/>
          <p:nvPr/>
        </p:nvSpPr>
        <p:spPr>
          <a:xfrm rot="-5400000">
            <a:off x="5308600" y="1244600"/>
            <a:ext cx="304800" cy="10922000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5"/>
          <p:cNvSpPr txBox="1"/>
          <p:nvPr/>
        </p:nvSpPr>
        <p:spPr>
          <a:xfrm rot="-5400000">
            <a:off x="11404600" y="6070600"/>
            <a:ext cx="304800" cy="1270000"/>
          </a:xfrm>
          <a:prstGeom prst="rect">
            <a:avLst/>
          </a:prstGeom>
          <a:solidFill>
            <a:srgbClr val="EB8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8250" y="2520950"/>
            <a:ext cx="7175500" cy="181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